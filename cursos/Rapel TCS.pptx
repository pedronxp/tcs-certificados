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0" r:id="rId3"/>
    <p:sldId id="261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3AD9"/>
    <a:srgbClr val="191921"/>
    <a:srgbClr val="FFD82B"/>
    <a:srgbClr val="F2F3F7"/>
    <a:srgbClr val="184366"/>
    <a:srgbClr val="B4C7E7"/>
    <a:srgbClr val="151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6" autoAdjust="0"/>
  </p:normalViewPr>
  <p:slideViewPr>
    <p:cSldViewPr snapToGrid="0">
      <p:cViewPr varScale="1">
        <p:scale>
          <a:sx n="42" d="100"/>
          <a:sy n="42" d="100"/>
        </p:scale>
        <p:origin x="30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  <a:endParaRPr lang="pt-BR"/>
          </a:p>
          <a:p>
            <a:pPr lvl="1"/>
            <a:r>
              <a:rPr lang="pt-BR"/>
              <a:t>Segundo nível</a:t>
            </a:r>
            <a:endParaRPr lang="pt-BR"/>
          </a:p>
          <a:p>
            <a:pPr lvl="2"/>
            <a:r>
              <a:rPr lang="pt-BR"/>
              <a:t>Terceiro nível</a:t>
            </a:r>
            <a:endParaRPr lang="pt-BR"/>
          </a:p>
          <a:p>
            <a:pPr lvl="3"/>
            <a:r>
              <a:rPr lang="pt-BR"/>
              <a:t>Quarto nível</a:t>
            </a:r>
            <a:endParaRPr lang="pt-BR"/>
          </a:p>
          <a:p>
            <a:pPr lvl="4"/>
            <a:r>
              <a:rPr lang="pt-BR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914E31-DE34-48F3-811A-C48FFFEBE04D}" type="datetimeFigureOut">
              <a:rPr lang="pt-BR" smtClean="0"/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C4D091-7D38-4343-8914-C1F053D2B468}" type="slidenum">
              <a:rPr lang="pt-BR" smtClean="0"/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jpe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jpeg"/><Relationship Id="rId2" Type="http://schemas.openxmlformats.org/officeDocument/2006/relationships/image" Target="../media/image5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" y="6531429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 rot="5400000">
            <a:off x="-3265717" y="3265713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 rot="5400000">
            <a:off x="8599714" y="3265715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/>
          <p:cNvGrpSpPr/>
          <p:nvPr/>
        </p:nvGrpSpPr>
        <p:grpSpPr>
          <a:xfrm>
            <a:off x="326570" y="290706"/>
            <a:ext cx="11538857" cy="6204864"/>
            <a:chOff x="326570" y="326563"/>
            <a:chExt cx="11538857" cy="6204864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6570" y="326569"/>
              <a:ext cx="3799118" cy="6204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339"/>
            <a:stretch>
              <a:fillRect/>
            </a:stretch>
          </p:blipFill>
          <p:spPr bwMode="auto">
            <a:xfrm rot="10800000">
              <a:off x="3907970" y="326563"/>
              <a:ext cx="7957457" cy="620486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4" name="CaixaDeTexto 3"/>
          <p:cNvSpPr txBox="1"/>
          <p:nvPr/>
        </p:nvSpPr>
        <p:spPr>
          <a:xfrm>
            <a:off x="2518817" y="969379"/>
            <a:ext cx="879520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600" b="1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CERTIFICADO</a:t>
            </a:r>
            <a:endParaRPr lang="pt-BR" sz="9600" b="1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grpSp>
        <p:nvGrpSpPr>
          <p:cNvPr id="7" name="Agrupar 6"/>
          <p:cNvGrpSpPr/>
          <p:nvPr/>
        </p:nvGrpSpPr>
        <p:grpSpPr>
          <a:xfrm>
            <a:off x="3263316" y="5357299"/>
            <a:ext cx="2520269" cy="796045"/>
            <a:chOff x="3448369" y="5270215"/>
            <a:chExt cx="2520269" cy="796045"/>
          </a:xfrm>
        </p:grpSpPr>
        <p:sp>
          <p:nvSpPr>
            <p:cNvPr id="16" name="CaixaDeTexto 15"/>
            <p:cNvSpPr txBox="1"/>
            <p:nvPr/>
          </p:nvSpPr>
          <p:spPr>
            <a:xfrm>
              <a:off x="3448369" y="5327596"/>
              <a:ext cx="2520269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Carlos Alexandre R. Faria</a:t>
              </a:r>
              <a:endParaRPr lang="pt-BR" sz="16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  <a:p>
              <a:pPr>
                <a:lnSpc>
                  <a:spcPct val="150000"/>
                </a:lnSpc>
              </a:pPr>
              <a:r>
                <a:rPr lang="pt-BR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</a:t>
              </a:r>
              <a: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</a:t>
              </a:r>
              <a:r>
                <a:rPr lang="pt-BR" sz="1200" b="1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Coordenador da Defesa Civil</a:t>
              </a:r>
              <a:endParaRPr lang="pt-BR" sz="1200" b="1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3486800" y="5270215"/>
              <a:ext cx="2088000" cy="36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22" name="CaixaDeTexto 21"/>
          <p:cNvSpPr txBox="1"/>
          <p:nvPr/>
        </p:nvSpPr>
        <p:spPr>
          <a:xfrm>
            <a:off x="2332140" y="2351432"/>
            <a:ext cx="8781917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t-BR" sz="5400" b="1" dirty="0">
                <a:solidFill>
                  <a:srgbClr val="002060"/>
                </a:solidFill>
                <a:latin typeface="Goudy Old Style" panose="02020502050305020303" pitchFamily="18" charset="0"/>
                <a:cs typeface="Gisha" panose="020B0502040204020203"/>
              </a:rPr>
              <a:t>{{ALUNO}}</a:t>
            </a:r>
            <a:endParaRPr lang="pt-BR" sz="5400" b="1" dirty="0">
              <a:solidFill>
                <a:srgbClr val="002060"/>
              </a:solidFill>
              <a:latin typeface="Goudy Old Style" panose="02020502050305020303" pitchFamily="18" charset="0"/>
              <a:cs typeface="Gisha" panose="020B0502040204020203"/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2476085" y="3292762"/>
            <a:ext cx="8942986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pt-BR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Concluiu o curso livre: Rapel, com </a:t>
            </a:r>
            <a:r>
              <a:rPr lang="en-US" altLang="en-US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á</a:t>
            </a:r>
            <a:r>
              <a:rPr lang="en-US" altLang="pt-BR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rea de forma</a:t>
            </a:r>
            <a:r>
              <a:rPr lang="" altLang="en-US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ç</a:t>
            </a:r>
            <a:r>
              <a:rPr lang="en-US" altLang="en-US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ã</a:t>
            </a:r>
            <a:r>
              <a:rPr lang="en-US" altLang="pt-BR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o continuada em esporte, nos dias {{PERIODO}}, perfazendo carga hor</a:t>
            </a:r>
            <a:r>
              <a:rPr lang="en-US" altLang="en-US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á</a:t>
            </a:r>
            <a:r>
              <a:rPr lang="en-US" altLang="pt-BR" sz="2300" b="1" dirty="0">
                <a:solidFill>
                  <a:srgbClr val="002060"/>
                </a:solidFill>
                <a:latin typeface="Calibri" panose="020F0502020204030204" charset="0"/>
                <a:ea typeface="Verdana" panose="020B0604030504040204" pitchFamily="34" charset="0"/>
                <a:cs typeface="Calibri" panose="020F0502020204030204" charset="0"/>
              </a:rPr>
              <a:t>ria total de {{CARGA_HORARIA_COM_UNIDADE}}.</a:t>
            </a:r>
            <a:endParaRPr lang="en-US" altLang="pt-BR" sz="2300" b="1" dirty="0">
              <a:solidFill>
                <a:srgbClr val="002060"/>
              </a:solidFill>
              <a:latin typeface="Calibri" panose="020F0502020204030204" charset="0"/>
              <a:ea typeface="Verdana" panose="020B0604030504040204" pitchFamily="34" charset="0"/>
              <a:cs typeface="Calibri" panose="020F0502020204030204" charset="0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9123977" y="4866474"/>
            <a:ext cx="2520269" cy="1014730"/>
            <a:chOff x="8676048" y="4910519"/>
            <a:chExt cx="2520269" cy="1014730"/>
          </a:xfrm>
        </p:grpSpPr>
        <p:sp>
          <p:nvSpPr>
            <p:cNvPr id="26" name="CaixaDeTexto 25"/>
            <p:cNvSpPr txBox="1"/>
            <p:nvPr/>
          </p:nvSpPr>
          <p:spPr>
            <a:xfrm>
              <a:off x="8676048" y="4910519"/>
              <a:ext cx="2520269" cy="10147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   Assinatura </a:t>
              </a:r>
              <a:r>
                <a:rPr lang="pt-BR" sz="16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do </a:t>
              </a:r>
              <a:r>
                <a:rPr lang="pt-BR" sz="16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Aluno</a:t>
              </a:r>
              <a:endParaRPr lang="pt-BR" sz="12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  <a:p>
              <a:pPr>
                <a:lnSpc>
                  <a:spcPct val="150000"/>
                </a:lnSpc>
              </a:pPr>
              <a:r>
                <a:rPr lang="pt-BR" sz="1200" dirty="0" smtClean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CPF: {{CPF}}</a:t>
              </a:r>
              <a:endParaRPr lang="pt-BR" sz="1200" dirty="0" smtClean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  <a:p>
              <a:pPr>
                <a:lnSpc>
                  <a:spcPct val="150000"/>
                </a:lnSpc>
              </a:pPr>
              <a:r>
                <a:rPr lang="pt-BR" sz="1200" dirty="0">
                  <a:solidFill>
                    <a:srgbClr val="002060"/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Numeração: {{DOC}}</a:t>
              </a:r>
              <a:endParaRPr lang="pt-BR" sz="12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27" name="Retângulo 26"/>
            <p:cNvSpPr/>
            <p:nvPr/>
          </p:nvSpPr>
          <p:spPr>
            <a:xfrm>
              <a:off x="8750403" y="5259329"/>
              <a:ext cx="2088000" cy="36000"/>
            </a:xfrm>
            <a:prstGeom prst="rect">
              <a:avLst/>
            </a:prstGeom>
            <a:gradFill flip="none" rotWithShape="1">
              <a:gsLst>
                <a:gs pos="0">
                  <a:schemeClr val="tx1">
                    <a:lumMod val="75000"/>
                    <a:lumOff val="25000"/>
                    <a:shade val="30000"/>
                    <a:satMod val="115000"/>
                  </a:schemeClr>
                </a:gs>
                <a:gs pos="100000">
                  <a:schemeClr val="tx1">
                    <a:lumMod val="65000"/>
                    <a:lumOff val="3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pic>
        <p:nvPicPr>
          <p:cNvPr id="28" name="Picture 2" descr="Treinamento NR35: Trabalho em Altura – Camargo Seg Treinamento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2361" y="401132"/>
            <a:ext cx="888269" cy="2145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Retângulo 18"/>
          <p:cNvSpPr/>
          <p:nvPr/>
        </p:nvSpPr>
        <p:spPr>
          <a:xfrm>
            <a:off x="4150979" y="6107043"/>
            <a:ext cx="55931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 smtClean="0">
                <a:solidFill>
                  <a:srgbClr val="002060"/>
                </a:solidFill>
              </a:rPr>
              <a:t>Certificado Válido apenas com assinatura e CPF do Aluno</a:t>
            </a:r>
            <a:endParaRPr lang="pt-BR" dirty="0">
              <a:solidFill>
                <a:srgbClr val="002060"/>
              </a:solidFill>
            </a:endParaRPr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3165" y="4673041"/>
            <a:ext cx="2980573" cy="1208340"/>
          </a:xfrm>
          <a:prstGeom prst="rect">
            <a:avLst/>
          </a:prstGeom>
        </p:spPr>
      </p:pic>
      <p:pic>
        <p:nvPicPr>
          <p:cNvPr id="24" name="Imagem 23" descr="C:\Users\Win 7\Desktop\logotipo\Logo nova centralizada.jpg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267" y="5215284"/>
            <a:ext cx="2083907" cy="1295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0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1" y="6531429"/>
            <a:ext cx="12191999" cy="32657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 rot="5400000">
            <a:off x="-3265717" y="3265713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Retângulo 14"/>
          <p:cNvSpPr/>
          <p:nvPr/>
        </p:nvSpPr>
        <p:spPr>
          <a:xfrm rot="5400000">
            <a:off x="8599714" y="3265715"/>
            <a:ext cx="6858001" cy="32657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3" name="Agrupar 2"/>
          <p:cNvGrpSpPr/>
          <p:nvPr/>
        </p:nvGrpSpPr>
        <p:grpSpPr>
          <a:xfrm>
            <a:off x="326570" y="326563"/>
            <a:ext cx="11538857" cy="6204864"/>
            <a:chOff x="326570" y="326563"/>
            <a:chExt cx="11538857" cy="6204864"/>
          </a:xfrm>
          <a:effectLst>
            <a:glow rad="63500">
              <a:schemeClr val="accent4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pic>
          <p:nvPicPr>
            <p:cNvPr id="9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326570" y="326569"/>
              <a:ext cx="3799118" cy="62048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" name="Picture 12" descr="Vetor de abstrato de onda dourada Vetor ... | Free Vector #Freepik  #freevector #fundo #fundo-abstrato #ouro #abs… | Fundos abstrato, Resumo,  Fundo de ouro brilhante"/>
            <p:cNvPicPr>
              <a:picLocks noChangeAspect="1" noChangeArrowheads="1"/>
            </p:cNvPicPr>
            <p:nvPr/>
          </p:nvPicPr>
          <p:blipFill rotWithShape="1"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1339"/>
            <a:stretch>
              <a:fillRect/>
            </a:stretch>
          </p:blipFill>
          <p:spPr bwMode="auto">
            <a:xfrm rot="10800000">
              <a:off x="3907970" y="326563"/>
              <a:ext cx="7957457" cy="6204861"/>
            </a:xfrm>
            <a:prstGeom prst="rect">
              <a:avLst/>
            </a:prstGeom>
            <a:noFill/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2" name="Retângulo 11"/>
          <p:cNvSpPr/>
          <p:nvPr/>
        </p:nvSpPr>
        <p:spPr>
          <a:xfrm>
            <a:off x="320514" y="320513"/>
            <a:ext cx="11610902" cy="6286321"/>
          </a:xfrm>
          <a:prstGeom prst="rect">
            <a:avLst/>
          </a:prstGeom>
          <a:solidFill>
            <a:schemeClr val="accent4">
              <a:lumMod val="75000"/>
              <a:alpha val="38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/>
          <p:cNvSpPr txBox="1"/>
          <p:nvPr/>
        </p:nvSpPr>
        <p:spPr>
          <a:xfrm>
            <a:off x="3163807" y="1387836"/>
            <a:ext cx="10957760" cy="44088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t-BR" sz="25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Conteúdo Programático:</a:t>
            </a:r>
            <a:endParaRPr lang="pt-BR" sz="25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Introdução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à história do 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rapel.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Normatização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e homologação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Apresentação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equipamentos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Gestão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</a:t>
            </a:r>
            <a:r>
              <a:rPr lang="pt-BR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segurança.-Nós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 e amarrações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Técnicas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de Descenso (Descida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).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Ancoragem fixa.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marL="342900" lvl="0" indent="-34290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AutoNum type="alphaLcParenR"/>
            </a:pP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Prática </a:t>
            </a:r>
            <a:r>
              <a:rPr lang="pt-B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em </a:t>
            </a:r>
            <a:r>
              <a:rPr lang="pt-BR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Pedreira 40 </a:t>
            </a:r>
            <a:r>
              <a:rPr lang="pt-BR" dirty="0" err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sha" panose="020B0502040204020203" pitchFamily="34" charset="-79"/>
                <a:ea typeface="Verdana" panose="020B0604030504040204" pitchFamily="34" charset="0"/>
                <a:cs typeface="Gisha" panose="020B0502040204020203" pitchFamily="34" charset="-79"/>
              </a:rPr>
              <a:t>mts</a:t>
            </a:r>
            <a:endParaRPr lang="pt-BR" dirty="0" smtClean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pt-BR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sha" panose="020B0502040204020203" pitchFamily="34" charset="-79"/>
              <a:ea typeface="Verdana" panose="020B0604030504040204" pitchFamily="34" charset="0"/>
              <a:cs typeface="Gisha" panose="020B0502040204020203" pitchFamily="34" charset="-79"/>
            </a:endParaRPr>
          </a:p>
        </p:txBody>
      </p:sp>
      <p:pic>
        <p:nvPicPr>
          <p:cNvPr id="17" name="Picture 2" descr="Treinamento NR35: Trabalho em Altura – Camargo Seg Treinamento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1492" y="320513"/>
            <a:ext cx="1433934" cy="3462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 descr="C:\Users\Win 7\Desktop\logotipo\Logo nova centralizada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127" y="5283864"/>
            <a:ext cx="2083907" cy="12950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WPS Presentation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6" baseType="lpstr">
      <vt:lpstr>Arial</vt:lpstr>
      <vt:lpstr>SimSun</vt:lpstr>
      <vt:lpstr>Wingdings</vt:lpstr>
      <vt:lpstr>Segoe UI Black</vt:lpstr>
      <vt:lpstr>Gisha</vt:lpstr>
      <vt:lpstr>Segoe UI Symbol</vt:lpstr>
      <vt:lpstr>Goudy Old Style</vt:lpstr>
      <vt:lpstr>Gisha</vt:lpstr>
      <vt:lpstr>Verdana</vt:lpstr>
      <vt:lpstr>Calibri</vt:lpstr>
      <vt:lpstr>Microsoft YaHei</vt:lpstr>
      <vt:lpstr>Arial Unicode MS</vt:lpstr>
      <vt:lpstr>Calibri Light</vt:lpstr>
      <vt:lpstr>Tema do Office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Breno Nicelatchi</dc:creator>
  <cp:lastModifiedBy>User</cp:lastModifiedBy>
  <cp:revision>47</cp:revision>
  <dcterms:created xsi:type="dcterms:W3CDTF">2022-08-15T16:33:00Z</dcterms:created>
  <dcterms:modified xsi:type="dcterms:W3CDTF">2026-05-21T23:17:19Z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9D45AE22CE9B4787A029F0DFD327C3D2_13</vt:lpwstr>
  </property>
  <property fmtid="{D5CDD505-2E9C-101B-9397-08002B2CF9AE}" pid="3" name="KSOProductBuildVer">
    <vt:lpwstr>1046-12.1.0.26372</vt:lpwstr>
  </property>
</Properties>
</file>