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3"/>
    <p:sldId id="261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3AD9"/>
    <a:srgbClr val="191921"/>
    <a:srgbClr val="FFD82B"/>
    <a:srgbClr val="F2F3F7"/>
    <a:srgbClr val="184366"/>
    <a:srgbClr val="B4C7E7"/>
    <a:srgbClr val="1514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226" autoAdjust="0"/>
  </p:normalViewPr>
  <p:slideViewPr>
    <p:cSldViewPr snapToGrid="0">
      <p:cViewPr varScale="1">
        <p:scale>
          <a:sx n="72" d="100"/>
          <a:sy n="72" d="100"/>
        </p:scale>
        <p:origin x="55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E31-DE34-48F3-811A-C48FFFEBE04D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D091-7D38-4343-8914-C1F053D2B468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E31-DE34-48F3-811A-C48FFFEBE04D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D091-7D38-4343-8914-C1F053D2B468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E31-DE34-48F3-811A-C48FFFEBE04D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D091-7D38-4343-8914-C1F053D2B468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E31-DE34-48F3-811A-C48FFFEBE04D}" type="datetimeFigureOut">
              <a:rPr lang="pt-BR" smtClean="0"/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D091-7D38-4343-8914-C1F053D2B468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E31-DE34-48F3-811A-C48FFFEBE04D}" type="datetimeFigureOut">
              <a:rPr lang="pt-BR" smtClean="0"/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D091-7D38-4343-8914-C1F053D2B468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E31-DE34-48F3-811A-C48FFFEBE04D}" type="datetimeFigureOut">
              <a:rPr lang="pt-BR" smtClean="0"/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D091-7D38-4343-8914-C1F053D2B468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E31-DE34-48F3-811A-C48FFFEBE04D}" type="datetimeFigureOut">
              <a:rPr lang="pt-BR" smtClean="0"/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D091-7D38-4343-8914-C1F053D2B468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E31-DE34-48F3-811A-C48FFFEBE04D}" type="datetimeFigureOut">
              <a:rPr lang="pt-BR" smtClean="0"/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D091-7D38-4343-8914-C1F053D2B468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E31-DE34-48F3-811A-C48FFFEBE04D}" type="datetimeFigureOut">
              <a:rPr lang="pt-BR" smtClean="0"/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D091-7D38-4343-8914-C1F053D2B468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E31-DE34-48F3-811A-C48FFFEBE04D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D091-7D38-4343-8914-C1F053D2B468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E31-DE34-48F3-811A-C48FFFEBE04D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D091-7D38-4343-8914-C1F053D2B468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14E31-DE34-48F3-811A-C48FFFEBE04D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4D091-7D38-4343-8914-C1F053D2B468}" type="slidenum">
              <a:rPr lang="pt-BR" smtClean="0"/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jpeg"/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0"/>
            <a:ext cx="12191999" cy="3265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1" y="6531429"/>
            <a:ext cx="12191999" cy="3265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 rot="5400000">
            <a:off x="-3265717" y="3265713"/>
            <a:ext cx="6858001" cy="3265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/>
          <p:cNvSpPr/>
          <p:nvPr/>
        </p:nvSpPr>
        <p:spPr>
          <a:xfrm rot="5400000">
            <a:off x="8599714" y="3265715"/>
            <a:ext cx="6858001" cy="3265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" name="Agrupar 2"/>
          <p:cNvGrpSpPr/>
          <p:nvPr/>
        </p:nvGrpSpPr>
        <p:grpSpPr>
          <a:xfrm>
            <a:off x="326570" y="290706"/>
            <a:ext cx="11538857" cy="6204864"/>
            <a:chOff x="326570" y="326563"/>
            <a:chExt cx="11538857" cy="6204864"/>
          </a:xfrm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9" name="Picture 12" descr="Vetor de abstrato de onda dourada Vetor ... | Free Vector #Freepik  #freevector #fundo #fundo-abstrato #ouro #abs… | Fundos abstrato, Resumo,  Fundo de ouro brilhante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6570" y="326569"/>
              <a:ext cx="3799118" cy="62048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2" descr="Vetor de abstrato de onda dourada Vetor ... | Free Vector #Freepik  #freevector #fundo #fundo-abstrato #ouro #abs… | Fundos abstrato, Resumo,  Fundo de ouro brilhante"/>
            <p:cNvPicPr>
              <a:picLocks noChangeAspect="1" noChangeArrowheads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1339"/>
            <a:stretch>
              <a:fillRect/>
            </a:stretch>
          </p:blipFill>
          <p:spPr bwMode="auto">
            <a:xfrm rot="10800000">
              <a:off x="3907970" y="326563"/>
              <a:ext cx="7957457" cy="6204861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CaixaDeTexto 3"/>
          <p:cNvSpPr txBox="1"/>
          <p:nvPr/>
        </p:nvSpPr>
        <p:spPr>
          <a:xfrm>
            <a:off x="2518817" y="969379"/>
            <a:ext cx="87952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00" b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CERTIFICADO</a:t>
            </a:r>
            <a:endParaRPr lang="pt-BR" sz="9600" b="1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grpSp>
        <p:nvGrpSpPr>
          <p:cNvPr id="7" name="Agrupar 6"/>
          <p:cNvGrpSpPr/>
          <p:nvPr/>
        </p:nvGrpSpPr>
        <p:grpSpPr>
          <a:xfrm>
            <a:off x="3263316" y="5357299"/>
            <a:ext cx="2520269" cy="796045"/>
            <a:chOff x="3448369" y="5270215"/>
            <a:chExt cx="2520269" cy="796045"/>
          </a:xfrm>
        </p:grpSpPr>
        <p:sp>
          <p:nvSpPr>
            <p:cNvPr id="16" name="CaixaDeTexto 15"/>
            <p:cNvSpPr txBox="1"/>
            <p:nvPr/>
          </p:nvSpPr>
          <p:spPr>
            <a:xfrm>
              <a:off x="3448369" y="5327596"/>
              <a:ext cx="252026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600" dirty="0" smtClean="0">
                  <a:solidFill>
                    <a:srgbClr val="00206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Carlos Alexandre R. Faria</a:t>
              </a:r>
              <a:endParaRPr lang="pt-BR" sz="1600" dirty="0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  <a:p>
              <a:pPr>
                <a:lnSpc>
                  <a:spcPct val="150000"/>
                </a:lnSpc>
              </a:pPr>
              <a:r>
                <a:rPr lang="pt-BR" sz="1200" dirty="0">
                  <a:solidFill>
                    <a:srgbClr val="00206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 </a:t>
              </a:r>
              <a:r>
                <a:rPr lang="pt-BR" sz="1200" dirty="0" smtClean="0">
                  <a:solidFill>
                    <a:srgbClr val="00206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  </a:t>
              </a:r>
              <a:r>
                <a:rPr lang="pt-BR" sz="1200" b="1" dirty="0" smtClean="0">
                  <a:solidFill>
                    <a:srgbClr val="00206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Coordenador da Defesa Civil</a:t>
              </a:r>
              <a:endParaRPr lang="pt-BR" sz="1200" b="1" dirty="0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7" name="Retângulo 16"/>
            <p:cNvSpPr/>
            <p:nvPr/>
          </p:nvSpPr>
          <p:spPr>
            <a:xfrm>
              <a:off x="3486800" y="5270215"/>
              <a:ext cx="2088000" cy="36000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  <a:shade val="30000"/>
                    <a:satMod val="11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2" name="CaixaDeTexto 21"/>
          <p:cNvSpPr txBox="1"/>
          <p:nvPr/>
        </p:nvSpPr>
        <p:spPr>
          <a:xfrm>
            <a:off x="2332140" y="2351432"/>
            <a:ext cx="8781917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400" b="1">
                <a:solidFill>
                  <a:srgbClr val="002060"/>
                </a:solidFill>
                <a:latin typeface="Goudy Old Style" panose="02020502050305020303" pitchFamily="18" charset="0"/>
                <a:cs typeface="Gisha" panose="020B0502040204020203"/>
              </a:rPr>
              <a:t>{{NOME}}</a:t>
            </a:r>
            <a:endParaRPr lang="pt-BR" sz="5400" b="1" dirty="0">
              <a:solidFill>
                <a:srgbClr val="002060"/>
              </a:solidFill>
              <a:latin typeface="Goudy Old Style" panose="02020502050305020303" pitchFamily="18" charset="0"/>
              <a:cs typeface="Gisha" panose="020B0502040204020203"/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2476085" y="3292762"/>
            <a:ext cx="8942986" cy="115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300" b="1" dirty="0" smtClean="0">
                <a:solidFill>
                  <a:srgbClr val="002060"/>
                </a:solidFill>
              </a:rPr>
              <a:t>Concluiu o curso livre: rapel, com área de formação continuada em esporte, nos dias de {{DIA1}} e {{DIA2}} de {{MES}} de {{ANO}}, perfazendo carga horária total de 16 horas.</a:t>
            </a:r>
            <a:endParaRPr lang="pt-BR" sz="2300" b="1" dirty="0">
              <a:solidFill>
                <a:srgbClr val="002060"/>
              </a:solidFill>
              <a:latin typeface="Gisha" panose="020B0502040204020203" pitchFamily="34" charset="-79"/>
              <a:ea typeface="Verdana" panose="020B0604030504040204" pitchFamily="34" charset="0"/>
              <a:cs typeface="Gisha" panose="020B0502040204020203" pitchFamily="34" charset="-79"/>
            </a:endParaRPr>
          </a:p>
        </p:txBody>
      </p:sp>
      <p:grpSp>
        <p:nvGrpSpPr>
          <p:cNvPr id="5" name="Agrupar 4"/>
          <p:cNvGrpSpPr/>
          <p:nvPr/>
        </p:nvGrpSpPr>
        <p:grpSpPr>
          <a:xfrm>
            <a:off x="8793777" y="5035384"/>
            <a:ext cx="2520269" cy="1014730"/>
            <a:chOff x="8345848" y="5079429"/>
            <a:chExt cx="2520269" cy="1014730"/>
          </a:xfrm>
        </p:grpSpPr>
        <p:sp>
          <p:nvSpPr>
            <p:cNvPr id="26" name="CaixaDeTexto 25"/>
            <p:cNvSpPr txBox="1"/>
            <p:nvPr/>
          </p:nvSpPr>
          <p:spPr>
            <a:xfrm>
              <a:off x="8345848" y="5079429"/>
              <a:ext cx="2520269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600" dirty="0" smtClean="0">
                  <a:solidFill>
                    <a:srgbClr val="00206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   Assinatura </a:t>
              </a:r>
              <a:r>
                <a:rPr lang="pt-BR" sz="1600" dirty="0">
                  <a:solidFill>
                    <a:srgbClr val="00206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do </a:t>
              </a:r>
              <a:r>
                <a:rPr lang="pt-BR" sz="1600" dirty="0" smtClean="0">
                  <a:solidFill>
                    <a:srgbClr val="00206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Aluno</a:t>
              </a:r>
              <a:endParaRPr lang="pt-BR" sz="1200" dirty="0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  <a:p>
              <a:pPr>
                <a:lnSpc>
                  <a:spcPct val="150000"/>
                </a:lnSpc>
              </a:pPr>
              <a:r>
                <a:rPr lang="pt-BR" sz="1200" dirty="0" smtClean="0">
                  <a:solidFill>
                    <a:srgbClr val="00206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    CPF: {CPF}</a:t>
              </a:r>
              <a:br>
                <a:rPr lang="pt-BR" sz="1200" dirty="0" smtClean="0">
                  <a:solidFill>
                    <a:srgbClr val="00206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</a:br>
              <a:r>
                <a:rPr lang="pt-BR" sz="1200" dirty="0" smtClean="0">
                  <a:solidFill>
                    <a:srgbClr val="00206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    Numeração - {{COD}}</a:t>
              </a:r>
              <a:endParaRPr lang="pt-BR" sz="1200" dirty="0" smtClean="0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7" name="Retângulo 26"/>
            <p:cNvSpPr/>
            <p:nvPr/>
          </p:nvSpPr>
          <p:spPr>
            <a:xfrm>
              <a:off x="8750403" y="5259329"/>
              <a:ext cx="2088000" cy="36000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  <a:shade val="30000"/>
                    <a:satMod val="11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28" name="Picture 2" descr="Treinamento NR35: Trabalho em Altura – Camargo Seg Treinamento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2361" y="401132"/>
            <a:ext cx="888269" cy="2145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875" y="357871"/>
            <a:ext cx="6831882" cy="858542"/>
          </a:xfrm>
          <a:prstGeom prst="rect">
            <a:avLst/>
          </a:prstGeom>
        </p:spPr>
      </p:pic>
      <p:pic>
        <p:nvPicPr>
          <p:cNvPr id="18" name="Imagem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70" y="5034918"/>
            <a:ext cx="1489348" cy="1479005"/>
          </a:xfrm>
          <a:prstGeom prst="rect">
            <a:avLst/>
          </a:prstGeom>
        </p:spPr>
      </p:pic>
      <p:sp>
        <p:nvSpPr>
          <p:cNvPr id="19" name="Retângulo 18"/>
          <p:cNvSpPr/>
          <p:nvPr/>
        </p:nvSpPr>
        <p:spPr>
          <a:xfrm>
            <a:off x="4150979" y="6107043"/>
            <a:ext cx="560133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 smtClean="0">
                <a:solidFill>
                  <a:srgbClr val="002060"/>
                </a:solidFill>
              </a:rPr>
              <a:t>Certificado Válido apenas com assinatura e CPF do Aluno </a:t>
            </a:r>
            <a:endParaRPr lang="pt-BR" dirty="0">
              <a:solidFill>
                <a:srgbClr val="002060"/>
              </a:solidFill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3165" y="4673041"/>
            <a:ext cx="2980573" cy="12083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0"/>
            <a:ext cx="12191999" cy="3265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1" y="6531429"/>
            <a:ext cx="12191999" cy="3265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 rot="5400000">
            <a:off x="-3265717" y="3265713"/>
            <a:ext cx="6858001" cy="3265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/>
          <p:cNvSpPr/>
          <p:nvPr/>
        </p:nvSpPr>
        <p:spPr>
          <a:xfrm rot="5400000">
            <a:off x="8599714" y="3265715"/>
            <a:ext cx="6858001" cy="3265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" name="Agrupar 2"/>
          <p:cNvGrpSpPr/>
          <p:nvPr/>
        </p:nvGrpSpPr>
        <p:grpSpPr>
          <a:xfrm>
            <a:off x="326570" y="326563"/>
            <a:ext cx="11538857" cy="6204864"/>
            <a:chOff x="326570" y="326563"/>
            <a:chExt cx="11538857" cy="6204864"/>
          </a:xfrm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9" name="Picture 12" descr="Vetor de abstrato de onda dourada Vetor ... | Free Vector #Freepik  #freevector #fundo #fundo-abstrato #ouro #abs… | Fundos abstrato, Resumo,  Fundo de ouro brilhante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6570" y="326569"/>
              <a:ext cx="3799118" cy="62048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2" descr="Vetor de abstrato de onda dourada Vetor ... | Free Vector #Freepik  #freevector #fundo #fundo-abstrato #ouro #abs… | Fundos abstrato, Resumo,  Fundo de ouro brilhante"/>
            <p:cNvPicPr>
              <a:picLocks noChangeAspect="1" noChangeArrowheads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1339"/>
            <a:stretch>
              <a:fillRect/>
            </a:stretch>
          </p:blipFill>
          <p:spPr bwMode="auto">
            <a:xfrm rot="10800000">
              <a:off x="3907970" y="326563"/>
              <a:ext cx="7957457" cy="6204861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Retângulo 11"/>
          <p:cNvSpPr/>
          <p:nvPr/>
        </p:nvSpPr>
        <p:spPr>
          <a:xfrm>
            <a:off x="320514" y="320513"/>
            <a:ext cx="11610902" cy="6286321"/>
          </a:xfrm>
          <a:prstGeom prst="rect">
            <a:avLst/>
          </a:prstGeom>
          <a:solidFill>
            <a:schemeClr val="accent4">
              <a:lumMod val="75000"/>
              <a:alpha val="38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163807" y="1387836"/>
            <a:ext cx="10957760" cy="4408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25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Conteúdo Programático:</a:t>
            </a:r>
            <a:endParaRPr lang="pt-BR" sz="25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sha" panose="020B0502040204020203" pitchFamily="34" charset="-79"/>
              <a:ea typeface="Verdana" panose="020B0604030504040204" pitchFamily="34" charset="0"/>
              <a:cs typeface="Gisha" panose="020B0502040204020203" pitchFamily="34" charset="-79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pt-BR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sha" panose="020B0502040204020203" pitchFamily="34" charset="-79"/>
              <a:ea typeface="Verdana" panose="020B0604030504040204" pitchFamily="34" charset="0"/>
              <a:cs typeface="Gisha" panose="020B0502040204020203" pitchFamily="34" charset="-79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lphaLcParenR"/>
            </a:pPr>
            <a:r>
              <a:rPr lang="pt-BR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Introdução </a:t>
            </a:r>
            <a:r>
              <a:rPr lang="pt-BR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à história do </a:t>
            </a:r>
            <a:r>
              <a:rPr lang="pt-BR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rapel.</a:t>
            </a:r>
            <a:endParaRPr lang="pt-BR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sha" panose="020B0502040204020203" pitchFamily="34" charset="-79"/>
              <a:ea typeface="Verdana" panose="020B0604030504040204" pitchFamily="34" charset="0"/>
              <a:cs typeface="Gisha" panose="020B0502040204020203" pitchFamily="34" charset="-79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lphaLcParenR"/>
            </a:pPr>
            <a:r>
              <a:rPr lang="pt-BR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Normatização </a:t>
            </a:r>
            <a:r>
              <a:rPr lang="pt-BR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e homologação</a:t>
            </a:r>
            <a:r>
              <a:rPr lang="pt-BR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.</a:t>
            </a:r>
            <a:endParaRPr lang="pt-BR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sha" panose="020B0502040204020203" pitchFamily="34" charset="-79"/>
              <a:ea typeface="Verdana" panose="020B0604030504040204" pitchFamily="34" charset="0"/>
              <a:cs typeface="Gisha" panose="020B0502040204020203" pitchFamily="34" charset="-79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lphaLcParenR"/>
            </a:pPr>
            <a:r>
              <a:rPr lang="pt-BR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Apresentação </a:t>
            </a:r>
            <a:r>
              <a:rPr lang="pt-BR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de equipamentos</a:t>
            </a:r>
            <a:r>
              <a:rPr lang="pt-BR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.</a:t>
            </a:r>
            <a:endParaRPr lang="pt-BR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sha" panose="020B0502040204020203" pitchFamily="34" charset="-79"/>
              <a:ea typeface="Verdana" panose="020B0604030504040204" pitchFamily="34" charset="0"/>
              <a:cs typeface="Gisha" panose="020B0502040204020203" pitchFamily="34" charset="-79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lphaLcParenR"/>
            </a:pPr>
            <a:r>
              <a:rPr lang="pt-BR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Gestão </a:t>
            </a:r>
            <a:r>
              <a:rPr lang="pt-BR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de </a:t>
            </a:r>
            <a:r>
              <a:rPr lang="pt-BR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segurança.-Nós</a:t>
            </a:r>
            <a:r>
              <a:rPr lang="pt-BR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 e amarrações</a:t>
            </a:r>
            <a:r>
              <a:rPr lang="pt-BR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.</a:t>
            </a:r>
            <a:endParaRPr lang="pt-BR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sha" panose="020B0502040204020203" pitchFamily="34" charset="-79"/>
              <a:ea typeface="Verdana" panose="020B0604030504040204" pitchFamily="34" charset="0"/>
              <a:cs typeface="Gisha" panose="020B0502040204020203" pitchFamily="34" charset="-79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lphaLcParenR"/>
            </a:pPr>
            <a:r>
              <a:rPr lang="pt-BR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Técnicas </a:t>
            </a:r>
            <a:r>
              <a:rPr lang="pt-BR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de Descenso (Descida</a:t>
            </a:r>
            <a:r>
              <a:rPr lang="pt-BR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).</a:t>
            </a:r>
            <a:endParaRPr lang="pt-BR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sha" panose="020B0502040204020203" pitchFamily="34" charset="-79"/>
              <a:ea typeface="Verdana" panose="020B0604030504040204" pitchFamily="34" charset="0"/>
              <a:cs typeface="Gisha" panose="020B0502040204020203" pitchFamily="34" charset="-79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lphaLcParenR"/>
            </a:pPr>
            <a:r>
              <a:rPr lang="pt-BR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Ancoragem fixa.</a:t>
            </a:r>
            <a:endParaRPr lang="pt-BR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sha" panose="020B0502040204020203" pitchFamily="34" charset="-79"/>
              <a:ea typeface="Verdana" panose="020B0604030504040204" pitchFamily="34" charset="0"/>
              <a:cs typeface="Gisha" panose="020B0502040204020203" pitchFamily="34" charset="-79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lphaLcParenR"/>
            </a:pPr>
            <a:r>
              <a:rPr lang="pt-BR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Prática </a:t>
            </a:r>
            <a:r>
              <a:rPr lang="pt-BR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em </a:t>
            </a:r>
            <a:r>
              <a:rPr lang="pt-BR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Pedreira 40 </a:t>
            </a:r>
            <a:r>
              <a:rPr lang="pt-BR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mts</a:t>
            </a:r>
            <a:endParaRPr lang="pt-BR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sha" panose="020B0502040204020203" pitchFamily="34" charset="-79"/>
              <a:ea typeface="Verdana" panose="020B0604030504040204" pitchFamily="34" charset="0"/>
              <a:cs typeface="Gisha" panose="020B0502040204020203" pitchFamily="34" charset="-79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pt-BR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sha" panose="020B0502040204020203" pitchFamily="34" charset="-79"/>
              <a:ea typeface="Verdana" panose="020B0604030504040204" pitchFamily="34" charset="0"/>
              <a:cs typeface="Gisha" panose="020B0502040204020203" pitchFamily="34" charset="-79"/>
            </a:endParaRPr>
          </a:p>
        </p:txBody>
      </p:sp>
      <p:pic>
        <p:nvPicPr>
          <p:cNvPr id="17" name="Picture 2" descr="Treinamento NR35: Trabalho em Altura – Camargo Seg Treinament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1492" y="320513"/>
            <a:ext cx="1433934" cy="3462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Imagem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6090" y="320513"/>
            <a:ext cx="6831882" cy="858542"/>
          </a:xfrm>
          <a:prstGeom prst="rect">
            <a:avLst/>
          </a:prstGeom>
        </p:spPr>
      </p:pic>
      <p:pic>
        <p:nvPicPr>
          <p:cNvPr id="19" name="Imagem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434" y="5219607"/>
            <a:ext cx="1320992" cy="13118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582</Words>
  <Application>WPS Presentation</Application>
  <PresentationFormat>Widescreen</PresentationFormat>
  <Paragraphs>25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7" baseType="lpstr">
      <vt:lpstr>Arial</vt:lpstr>
      <vt:lpstr>SimSun</vt:lpstr>
      <vt:lpstr>Wingdings</vt:lpstr>
      <vt:lpstr>Segoe UI Black</vt:lpstr>
      <vt:lpstr>Gisha</vt:lpstr>
      <vt:lpstr>Segoe UI Symbol</vt:lpstr>
      <vt:lpstr>Goudy Old Style</vt:lpstr>
      <vt:lpstr>Gisha</vt:lpstr>
      <vt:lpstr>Verdana</vt:lpstr>
      <vt:lpstr>Calibri</vt:lpstr>
      <vt:lpstr>PMingLiU-ExtB</vt:lpstr>
      <vt:lpstr>Microsoft YaHei</vt:lpstr>
      <vt:lpstr>Arial Unicode MS</vt:lpstr>
      <vt:lpstr>Calibri Light</vt:lpstr>
      <vt:lpstr>Tema do Office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Breno Nicelatchi</dc:creator>
  <cp:lastModifiedBy>Pedro Paulo</cp:lastModifiedBy>
  <cp:revision>52</cp:revision>
  <dcterms:created xsi:type="dcterms:W3CDTF">2022-08-15T16:33:00Z</dcterms:created>
  <dcterms:modified xsi:type="dcterms:W3CDTF">2026-05-04T01:23:23Z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5ABD1E6BEC004B548C218F2E2E65F680_13</vt:lpwstr>
  </property>
  <property fmtid="{D5CDD505-2E9C-101B-9397-08002B2CF9AE}" pid="3" name="KSOProductBuildVer">
    <vt:lpwstr>1046-12.9.0.21549</vt:lpwstr>
  </property>
</Properties>
</file>