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9808" y="658368"/>
            <a:ext cx="1005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766E"/>
                </a:solidFill>
              </a:rPr>
              <a:t>TCS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49808" y="1554480"/>
            <a:ext cx="7132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Certificados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786384" y="2542032"/>
            <a:ext cx="5623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</a:rPr>
              <a:t>Painel web para criar modelos, emitir certificados em PDF/DOCX e validar autenticidade por QR Code.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360920" y="987552"/>
            <a:ext cx="3611880" cy="448056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08392" y="1353312"/>
            <a:ext cx="2926080" cy="3749040"/>
          </a:xfrm>
          <a:prstGeom prst="rect">
            <a:avLst/>
          </a:prstGeom>
          <a:solidFill>
            <a:srgbClr val="F1F5F9"/>
          </a:solidFill>
          <a:ln w="15240">
            <a:solidFill>
              <a:srgbClr val="0F766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028432" y="2944368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F172A"/>
                </a:solidFill>
              </a:rPr>
              <a:t>{{nome}}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786384" y="5943600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5E59"/>
                </a:solidFill>
              </a:rPr>
              <a:t>PDF · DOCX · QR Code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644652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TCS Certificados · 1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 problema que o painel resolve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8869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Certificados precisam manter o design original e reduzir retrabalho operacional.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640080" y="1234440"/>
            <a:ext cx="1051560" cy="0"/>
          </a:xfrm>
          <a:prstGeom prst="line">
            <a:avLst/>
          </a:prstGeom>
          <a:noFill/>
          <a:ln w="38100">
            <a:solidFill>
              <a:srgbClr val="0F766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" y="1600200"/>
            <a:ext cx="3337560" cy="18288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3232" y="1600200"/>
            <a:ext cx="64008" cy="18288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764792"/>
            <a:ext cx="2953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Modelos reutilizáveis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914400" y="2130552"/>
            <a:ext cx="2953512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475569"/>
                </a:solidFill>
              </a:rPr>
              <a:t>Um modelo em PDF, DOCX ou imagem vira base para múltiplas emissões.</a:t>
            </a:r>
            <a:endParaRPr lang="en-US" sz="960" dirty="0"/>
          </a:p>
        </p:txBody>
      </p:sp>
      <p:sp>
        <p:nvSpPr>
          <p:cNvPr id="9" name="Shape 7"/>
          <p:cNvSpPr/>
          <p:nvPr/>
        </p:nvSpPr>
        <p:spPr>
          <a:xfrm>
            <a:off x="4407408" y="1600200"/>
            <a:ext cx="3337560" cy="18288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07408" y="1600200"/>
            <a:ext cx="64008" cy="18288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08576" y="1764792"/>
            <a:ext cx="2953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Campos controlados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608576" y="2130552"/>
            <a:ext cx="2953512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475569"/>
                </a:solidFill>
              </a:rPr>
              <a:t>Labels amigáveis no formulário alimentam placeholders técnicos como {{nome}}.</a:t>
            </a:r>
            <a:endParaRPr lang="en-US" sz="960" dirty="0"/>
          </a:p>
        </p:txBody>
      </p:sp>
      <p:sp>
        <p:nvSpPr>
          <p:cNvPr id="13" name="Shape 11"/>
          <p:cNvSpPr/>
          <p:nvPr/>
        </p:nvSpPr>
        <p:spPr>
          <a:xfrm>
            <a:off x="8101584" y="1600200"/>
            <a:ext cx="3337560" cy="18288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101584" y="1600200"/>
            <a:ext cx="64008" cy="18288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02752" y="1764792"/>
            <a:ext cx="2953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Validação pública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8302752" y="2130552"/>
            <a:ext cx="2953512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475569"/>
                </a:solidFill>
              </a:rPr>
              <a:t>Cada emissão recebe código único e QR Code para conferência externa.</a:t>
            </a:r>
            <a:endParaRPr lang="en-US" sz="960" dirty="0"/>
          </a:p>
        </p:txBody>
      </p:sp>
      <p:sp>
        <p:nvSpPr>
          <p:cNvPr id="17" name="Text 15"/>
          <p:cNvSpPr/>
          <p:nvPr/>
        </p:nvSpPr>
        <p:spPr>
          <a:xfrm>
            <a:off x="914400" y="4251960"/>
            <a:ext cx="9966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Resultado esperado: menos edição manual, mais consistência visual e trilha de emissão consultável.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640080" y="644652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TCS Certificados · 2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Arquitetura técnica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8869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Next.js, Prisma, Supabase e renderizadores especializados para PDF/DOCX.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640080" y="1234440"/>
            <a:ext cx="1051560" cy="0"/>
          </a:xfrm>
          <a:prstGeom prst="line">
            <a:avLst/>
          </a:prstGeom>
          <a:noFill/>
          <a:ln w="38100">
            <a:solidFill>
              <a:srgbClr val="0F766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645920"/>
            <a:ext cx="4800600" cy="13716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1645920"/>
            <a:ext cx="64008" cy="13716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1810512"/>
            <a:ext cx="4416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Frontend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1115568" y="2176272"/>
            <a:ext cx="441655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475569"/>
                </a:solidFill>
              </a:rPr>
              <a:t>Next.js App Router, TypeScript, Tailwind e componentes de painel.</a:t>
            </a:r>
            <a:endParaRPr lang="en-US" sz="960" dirty="0"/>
          </a:p>
        </p:txBody>
      </p:sp>
      <p:sp>
        <p:nvSpPr>
          <p:cNvPr id="9" name="Shape 7"/>
          <p:cNvSpPr/>
          <p:nvPr/>
        </p:nvSpPr>
        <p:spPr>
          <a:xfrm>
            <a:off x="6263640" y="1645920"/>
            <a:ext cx="4800600" cy="13716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63640" y="1645920"/>
            <a:ext cx="64008" cy="13716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64808" y="1810512"/>
            <a:ext cx="4416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Banco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464808" y="2176272"/>
            <a:ext cx="441655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475569"/>
                </a:solidFill>
              </a:rPr>
              <a:t>PostgreSQL no Supabase via Prisma ORM e migrations versionadas.</a:t>
            </a:r>
            <a:endParaRPr lang="en-US" sz="960" dirty="0"/>
          </a:p>
        </p:txBody>
      </p:sp>
      <p:sp>
        <p:nvSpPr>
          <p:cNvPr id="13" name="Shape 11"/>
          <p:cNvSpPr/>
          <p:nvPr/>
        </p:nvSpPr>
        <p:spPr>
          <a:xfrm>
            <a:off x="914400" y="3657600"/>
            <a:ext cx="4800600" cy="13716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14400" y="3657600"/>
            <a:ext cx="64008" cy="13716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15568" y="3822192"/>
            <a:ext cx="4416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Arquivos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1115568" y="4187952"/>
            <a:ext cx="441655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475569"/>
                </a:solidFill>
              </a:rPr>
              <a:t>Supabase Storage para PDFs/DOCX quando service role está configurada.</a:t>
            </a:r>
            <a:endParaRPr lang="en-US" sz="960" dirty="0"/>
          </a:p>
        </p:txBody>
      </p:sp>
      <p:sp>
        <p:nvSpPr>
          <p:cNvPr id="17" name="Shape 15"/>
          <p:cNvSpPr/>
          <p:nvPr/>
        </p:nvSpPr>
        <p:spPr>
          <a:xfrm>
            <a:off x="6263640" y="3657600"/>
            <a:ext cx="4800600" cy="13716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63640" y="3657600"/>
            <a:ext cx="64008" cy="13716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64808" y="3822192"/>
            <a:ext cx="4416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Renderização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464808" y="4187952"/>
            <a:ext cx="441655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475569"/>
                </a:solidFill>
              </a:rPr>
              <a:t>pdf-lib, docxtemplater, mammoth e fallback sem Chromium.</a:t>
            </a:r>
            <a:endParaRPr lang="en-US" sz="960" dirty="0"/>
          </a:p>
        </p:txBody>
      </p:sp>
      <p:sp>
        <p:nvSpPr>
          <p:cNvPr id="21" name="Text 19"/>
          <p:cNvSpPr/>
          <p:nvPr/>
        </p:nvSpPr>
        <p:spPr>
          <a:xfrm>
            <a:off x="640080" y="644652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TCS Certificados · 3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Fluxo de emissão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8869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Do modelo enviado ao certificado validável.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640080" y="1234440"/>
            <a:ext cx="1051560" cy="0"/>
          </a:xfrm>
          <a:prstGeom prst="line">
            <a:avLst/>
          </a:prstGeom>
          <a:noFill/>
          <a:ln w="38100">
            <a:solidFill>
              <a:srgbClr val="0F766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057400"/>
            <a:ext cx="566928" cy="56692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185416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85800" y="278892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Subir modelo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85800" y="3182112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PDF, DOCX ou imagem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508760" y="2340864"/>
            <a:ext cx="169164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3611880" y="2057400"/>
            <a:ext cx="566928" cy="56692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11880" y="2185416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474720" y="278892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Marcar campos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474720" y="3182112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Labels e obrigatoriedade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297680" y="2340864"/>
            <a:ext cx="169164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6400800" y="2057400"/>
            <a:ext cx="566928" cy="56692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0" y="2185416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263640" y="278892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Emitir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263640" y="3182112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Individual ou lote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086600" y="2340864"/>
            <a:ext cx="169164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9189720" y="2057400"/>
            <a:ext cx="566928" cy="56692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89720" y="2185416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9052560" y="278892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Validar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052560" y="3182112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Código e QR público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40080" y="644652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TCS Certificados · 4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Documento como fonte de verdade visual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8869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A estratégia é preservar o arquivo base e preencher variáveis sem reconstruir o design.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640080" y="1234440"/>
            <a:ext cx="1051560" cy="0"/>
          </a:xfrm>
          <a:prstGeom prst="line">
            <a:avLst/>
          </a:prstGeom>
          <a:noFill/>
          <a:ln w="38100">
            <a:solidFill>
              <a:srgbClr val="0F766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600200"/>
            <a:ext cx="3246120" cy="2286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1600200"/>
            <a:ext cx="64008" cy="22860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24128" y="1764792"/>
            <a:ext cx="2862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PDF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1024128" y="2130552"/>
            <a:ext cx="2862072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475569"/>
                </a:solidFill>
              </a:rPr>
              <a:t>Usa o PDF original como base e desenha valores e QR Code sobre a página.</a:t>
            </a:r>
            <a:endParaRPr lang="en-US" sz="960" dirty="0"/>
          </a:p>
        </p:txBody>
      </p:sp>
      <p:sp>
        <p:nvSpPr>
          <p:cNvPr id="9" name="Shape 7"/>
          <p:cNvSpPr/>
          <p:nvPr/>
        </p:nvSpPr>
        <p:spPr>
          <a:xfrm>
            <a:off x="4462272" y="1600200"/>
            <a:ext cx="3246120" cy="2286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62272" y="1600200"/>
            <a:ext cx="64008" cy="2286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63440" y="1764792"/>
            <a:ext cx="2862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DOCX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663440" y="2130552"/>
            <a:ext cx="2862072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475569"/>
                </a:solidFill>
              </a:rPr>
              <a:t>Extrai preview com Mammoth e substitui placeholders com docxtemplater.</a:t>
            </a:r>
            <a:endParaRPr lang="en-US" sz="960" dirty="0"/>
          </a:p>
        </p:txBody>
      </p:sp>
      <p:sp>
        <p:nvSpPr>
          <p:cNvPr id="13" name="Shape 11"/>
          <p:cNvSpPr/>
          <p:nvPr/>
        </p:nvSpPr>
        <p:spPr>
          <a:xfrm>
            <a:off x="8101584" y="1600200"/>
            <a:ext cx="3246120" cy="2286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101584" y="1600200"/>
            <a:ext cx="64008" cy="22860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02752" y="1764792"/>
            <a:ext cx="2862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Imagem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8302752" y="2130552"/>
            <a:ext cx="2862072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475569"/>
                </a:solidFill>
              </a:rPr>
              <a:t>Mantém a arte como fundo e aplica campos posicionados manualmente.</a:t>
            </a:r>
            <a:endParaRPr lang="en-US" sz="960" dirty="0"/>
          </a:p>
        </p:txBody>
      </p:sp>
      <p:sp>
        <p:nvSpPr>
          <p:cNvPr id="17" name="Text 15"/>
          <p:cNvSpPr/>
          <p:nvPr/>
        </p:nvSpPr>
        <p:spPr>
          <a:xfrm>
            <a:off x="1051560" y="4617720"/>
            <a:ext cx="9738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Essa abordagem evita perda de margem, tipografia e espaçamento causada por conversões automáticas frágeis.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40080" y="644652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TCS Certificados · 5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Estado atual e próximos passos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8869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Base funcional para evoluir o produto com mais fidelidade visual e governança.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640080" y="1234440"/>
            <a:ext cx="1051560" cy="0"/>
          </a:xfrm>
          <a:prstGeom prst="line">
            <a:avLst/>
          </a:prstGeom>
          <a:noFill/>
          <a:ln w="38100">
            <a:solidFill>
              <a:srgbClr val="0F766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536192"/>
            <a:ext cx="1325880" cy="310896"/>
          </a:xfrm>
          <a:prstGeom prst="roundRect">
            <a:avLst>
              <a:gd name="adj" fmla="val 17647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604772"/>
            <a:ext cx="1325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FFFFFF"/>
                </a:solidFill>
              </a:rPr>
              <a:t>Implementado</a:t>
            </a:r>
            <a:endParaRPr lang="en-US" sz="730" dirty="0"/>
          </a:p>
        </p:txBody>
      </p:sp>
      <p:sp>
        <p:nvSpPr>
          <p:cNvPr id="7" name="Text 5"/>
          <p:cNvSpPr/>
          <p:nvPr/>
        </p:nvSpPr>
        <p:spPr>
          <a:xfrm>
            <a:off x="868680" y="1993392"/>
            <a:ext cx="4663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</a:rPr>
              <a:t>Login, perfis, modelos, upload PDF/DOCX/imagem, campos, emissão, histórico, revogação, validação pública e Supabase.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080760" y="1536192"/>
            <a:ext cx="1325880" cy="310896"/>
          </a:xfrm>
          <a:prstGeom prst="roundRect">
            <a:avLst>
              <a:gd name="adj" fmla="val 17647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080760" y="1604772"/>
            <a:ext cx="1325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FFFFFF"/>
                </a:solidFill>
              </a:rPr>
              <a:t>Próximos passos</a:t>
            </a:r>
            <a:endParaRPr lang="en-US" sz="730" dirty="0"/>
          </a:p>
        </p:txBody>
      </p:sp>
      <p:sp>
        <p:nvSpPr>
          <p:cNvPr id="10" name="Text 8"/>
          <p:cNvSpPr/>
          <p:nvPr/>
        </p:nvSpPr>
        <p:spPr>
          <a:xfrm>
            <a:off x="6080760" y="1993392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</a:rPr>
              <a:t>Arrastar campos no canvas, múltiplas páginas de PDF, renderização DOCX mais fiel, auditoria e melhorias de armazenamento.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143000" y="4206240"/>
            <a:ext cx="9875520" cy="86868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43000" y="4206240"/>
            <a:ext cx="64008" cy="86868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344168" y="4370832"/>
            <a:ext cx="9491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Critério de sucesso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1344168" y="4736592"/>
            <a:ext cx="949147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475569"/>
                </a:solidFill>
              </a:rPr>
              <a:t>Emitir certificados preservando o modelo original e reduzindo intervenção manual.</a:t>
            </a:r>
            <a:endParaRPr lang="en-US" sz="960" dirty="0"/>
          </a:p>
        </p:txBody>
      </p:sp>
      <p:sp>
        <p:nvSpPr>
          <p:cNvPr id="15" name="Text 13"/>
          <p:cNvSpPr/>
          <p:nvPr/>
        </p:nvSpPr>
        <p:spPr>
          <a:xfrm>
            <a:off x="640080" y="644652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TCS Certificados · 6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TCS Certificados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TCS Certificados</dc:title>
  <dc:subject>Apresentação técnica do painel de certificados</dc:subject>
  <dc:creator>TCS Certificados</dc:creator>
  <cp:lastModifiedBy>TCS Certificados</cp:lastModifiedBy>
  <cp:revision>1</cp:revision>
  <dcterms:created xsi:type="dcterms:W3CDTF">2026-04-28T16:58:52Z</dcterms:created>
  <dcterms:modified xsi:type="dcterms:W3CDTF">2026-04-28T16:58:52Z</dcterms:modified>
</cp:coreProperties>
</file>